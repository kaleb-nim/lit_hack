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80483-4506-A791-CAA9-C653FF45F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55F692-C78D-2BD1-8878-16CBF6403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F3701-4E85-D014-45FA-D29C9DE3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795-CED3-4B78-AEE1-D9870412CB95}" type="datetimeFigureOut">
              <a:rPr lang="en-SG" smtClean="0"/>
              <a:t>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F6A86-9F4B-4721-23B1-339994B22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0CF4D-8646-34C0-7092-68427988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9D5-13CA-4DCB-B68E-586840CEEC2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8034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1073A-263B-FD30-4D4F-EE79C9C37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DA5E1-DB2C-434E-123D-4CBF47AEB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2BB4F-C9D1-EA3D-78FA-9FF3DB191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795-CED3-4B78-AEE1-D9870412CB95}" type="datetimeFigureOut">
              <a:rPr lang="en-SG" smtClean="0"/>
              <a:t>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51DB0-7579-9DAF-2B55-8720E6B3B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0134F-62AC-762A-905C-90CAD39D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9D5-13CA-4DCB-B68E-586840CEEC2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16783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DEF61-A37D-7CBD-5014-BD8D0B2E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33612-7485-3705-4A9F-8153425B3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E34E2-3738-D92E-E720-861E3EF3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795-CED3-4B78-AEE1-D9870412CB95}" type="datetimeFigureOut">
              <a:rPr lang="en-SG" smtClean="0"/>
              <a:t>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6AC11-4DF0-C044-2F4E-91113F21E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3B47C-13B0-41AB-8DC0-A45242A6C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9D5-13CA-4DCB-B68E-586840CEEC2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3446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7B38-792A-6C02-68D6-21B08255D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EC427-4AB6-6927-5C77-5A5B3C182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760D2-BF85-9F71-B38E-0552B0D3C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D662E-E7A8-5351-273D-A14BC786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795-CED3-4B78-AEE1-D9870412CB95}" type="datetimeFigureOut">
              <a:rPr lang="en-SG" smtClean="0"/>
              <a:t>6/9/2026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56240-6EFE-E33E-9B19-6BA5FE572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A7D01-7581-7A88-9FFB-6F011125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9D5-13CA-4DCB-B68E-586840CEEC2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7082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7C099-98A8-BC44-44EB-9DD9E3E35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64C33-A890-0E4E-98B4-765FBBD8C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5C4AE-DFE7-BA5A-548F-951DFE4A1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7125D2-0ECB-17DE-AB06-172014D080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B5C92F-81F1-52B1-D90A-32CE68570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1EEE71-E5AE-9B02-2F2E-5815A58D8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795-CED3-4B78-AEE1-D9870412CB95}" type="datetimeFigureOut">
              <a:rPr lang="en-SG" smtClean="0"/>
              <a:t>6/9/2026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93DD89-111E-4726-66D6-263EEE04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52E9A-6339-88AB-5B84-D8A774647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9D5-13CA-4DCB-B68E-586840CEEC2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68909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07E50-4B70-4ECA-BE65-AD7BE3500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9714E2-13BE-E584-3550-206906A11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795-CED3-4B78-AEE1-D9870412CB95}" type="datetimeFigureOut">
              <a:rPr lang="en-SG" smtClean="0"/>
              <a:t>6/9/2026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0FB64-C8CE-A5AB-A58E-9E9239FD8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D6E8E-5BC7-B5EC-FDCE-ACC312815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9D5-13CA-4DCB-B68E-586840CEEC2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809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DFE48-50E1-3E87-FD35-8FC1D4EB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795-CED3-4B78-AEE1-D9870412CB95}" type="datetimeFigureOut">
              <a:rPr lang="en-SG" smtClean="0"/>
              <a:t>6/9/2026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18DD38-3FE3-48C3-AA62-B144B98D3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96D13-B870-3B09-E6EC-E87B0230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9D5-13CA-4DCB-B68E-586840CEEC2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799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C674-18A4-229B-BFEE-C42508EA2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DAEB8-90AD-C8D7-5CDA-2B94C4B6B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C61FF-47D8-F980-5C9A-ED7592705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E9B9B-66B8-F0D6-A232-351B1390F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795-CED3-4B78-AEE1-D9870412CB95}" type="datetimeFigureOut">
              <a:rPr lang="en-SG" smtClean="0"/>
              <a:t>6/9/2026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1A39A-0C98-AAC4-175E-4A85D699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EC204-358D-D6A8-6AF7-D34C9F4D6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9D5-13CA-4DCB-B68E-586840CEEC2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227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07931-2703-3BC0-2FFB-63FCED606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8ADBD0-4B2D-08B0-8825-140C43944B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6E2217-B83A-1EE3-49A9-8EE760708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F805E-A569-E5BE-72DC-64C550ADA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795-CED3-4B78-AEE1-D9870412CB95}" type="datetimeFigureOut">
              <a:rPr lang="en-SG" smtClean="0"/>
              <a:t>6/9/2026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13834-EB4A-6C36-3DA0-BCA6EB8D0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C041C-3063-F080-EFD2-26B4C5076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9D5-13CA-4DCB-B68E-586840CEEC2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28808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963E-0063-6ED4-9C64-D13200292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5935BB-89A9-7D9D-6528-510F3BC65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40E36-BEDC-C451-8463-14AAED3FF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795-CED3-4B78-AEE1-D9870412CB95}" type="datetimeFigureOut">
              <a:rPr lang="en-SG" smtClean="0"/>
              <a:t>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6A55C-175A-0523-4C0D-C67F9104D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45EDE-87DB-4262-1952-6415A0FB7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9D5-13CA-4DCB-B68E-586840CEEC2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413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95EFF4-472E-5AA0-8832-92F3A956D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CF19C-CED6-F552-5848-7ABCC2513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2AEEB-70A5-B8E0-048E-B487B3E0A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F795-CED3-4B78-AEE1-D9870412CB95}" type="datetimeFigureOut">
              <a:rPr lang="en-SG" smtClean="0"/>
              <a:t>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52831-4220-A885-1BE7-9BEF6250D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3522B-5A76-9313-AB61-BC3D293CF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EE9D5-13CA-4DCB-B68E-586840CEEC2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6654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86728A-5FC2-C58D-1F72-4FD25BDF4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E1B4D-DEED-E39A-DF25-5BEE2F590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55964-7AD6-417C-478F-48AFFF6251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56F795-CED3-4B78-AEE1-D9870412CB95}" type="datetimeFigureOut">
              <a:rPr lang="en-SG" smtClean="0"/>
              <a:t>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2DC51-008F-7318-D47E-CCCA43AE90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69C9-1A79-D578-A6E8-81249A7557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0EE9D5-13CA-4DCB-B68E-586840CEEC2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85319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44A469-7F28-450E-8C8A-1FDF284036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B806AC-EE37-E44D-B9A9-269764228EA1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B2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A85EDD-38C1-C20C-0E97-68F9DC27A09C}"/>
              </a:ext>
            </a:extLst>
          </p:cNvPr>
          <p:cNvSpPr txBox="1"/>
          <p:nvPr/>
        </p:nvSpPr>
        <p:spPr>
          <a:xfrm>
            <a:off x="889000" y="1168400"/>
            <a:ext cx="6350000" cy="76944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5000" b="1">
                <a:solidFill>
                  <a:srgbClr val="F7F4EE"/>
                </a:solidFill>
                <a:latin typeface="Georgia" panose="02040502050405020303" pitchFamily="18" charset="0"/>
              </a:rPr>
              <a:t>L.A.R.P.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A863F-8B5F-111E-9D15-559C690F4969}"/>
              </a:ext>
            </a:extLst>
          </p:cNvPr>
          <p:cNvSpPr txBox="1"/>
          <p:nvPr/>
        </p:nvSpPr>
        <p:spPr>
          <a:xfrm>
            <a:off x="927100" y="2247900"/>
            <a:ext cx="8255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300" b="1">
                <a:solidFill>
                  <a:srgbClr val="B28B43"/>
                </a:solidFill>
                <a:latin typeface="Aptos" panose="020B0004020202020204" pitchFamily="34" charset="0"/>
              </a:rPr>
              <a:t>LOCALISED AMENDMENT RESILIENCE PLATFORM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612999-EB13-FF1D-1E19-CE0DC5DE55C2}"/>
              </a:ext>
            </a:extLst>
          </p:cNvPr>
          <p:cNvCxnSpPr/>
          <p:nvPr/>
        </p:nvCxnSpPr>
        <p:spPr>
          <a:xfrm>
            <a:off x="927100" y="2781300"/>
            <a:ext cx="3771900" cy="0"/>
          </a:xfrm>
          <a:prstGeom prst="line">
            <a:avLst/>
          </a:prstGeom>
          <a:ln w="25400">
            <a:solidFill>
              <a:srgbClr val="B28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3802E6-B32B-AB06-77C7-371B12E4EC58}"/>
              </a:ext>
            </a:extLst>
          </p:cNvPr>
          <p:cNvSpPr txBox="1"/>
          <p:nvPr/>
        </p:nvSpPr>
        <p:spPr>
          <a:xfrm>
            <a:off x="927100" y="3200400"/>
            <a:ext cx="82550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>
                <a:solidFill>
                  <a:srgbClr val="F7F4EE"/>
                </a:solidFill>
                <a:latin typeface="Georgia" panose="02040502050405020303" pitchFamily="18" charset="0"/>
              </a:rPr>
              <a:t>Regulatory change, traced to the clauses and files that need attention</a:t>
            </a:r>
            <a:endParaRPr lang="en-SG" sz="2700">
              <a:solidFill>
                <a:srgbClr val="F7F4EE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7875FF-1456-0F20-4140-A1DC07CF57ED}"/>
              </a:ext>
            </a:extLst>
          </p:cNvPr>
          <p:cNvSpPr txBox="1"/>
          <p:nvPr/>
        </p:nvSpPr>
        <p:spPr>
          <a:xfrm>
            <a:off x="927100" y="5867400"/>
            <a:ext cx="711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100">
                <a:solidFill>
                  <a:srgbClr val="BBC4CF"/>
                </a:solidFill>
                <a:latin typeface="Aptos" panose="020B0004020202020204" pitchFamily="34" charset="0"/>
              </a:rPr>
              <a:t>Singapore LegalTech  Â·  SMU LIT Hackathon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8D8671-470E-646B-BEA3-A001209709C2}"/>
              </a:ext>
            </a:extLst>
          </p:cNvPr>
          <p:cNvSpPr txBox="1"/>
          <p:nvPr/>
        </p:nvSpPr>
        <p:spPr>
          <a:xfrm>
            <a:off x="9144000" y="5905500"/>
            <a:ext cx="22225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SG" sz="900" b="1">
                <a:solidFill>
                  <a:srgbClr val="B28B43"/>
                </a:solidFill>
                <a:latin typeface="Aptos" panose="020B0004020202020204" pitchFamily="34" charset="0"/>
              </a:rPr>
              <a:t>HUMAN REVIEW REMAINS FINAL</a:t>
            </a:r>
          </a:p>
        </p:txBody>
      </p:sp>
    </p:spTree>
    <p:extLst>
      <p:ext uri="{BB962C8B-B14F-4D97-AF65-F5344CB8AC3E}">
        <p14:creationId xmlns:p14="http://schemas.microsoft.com/office/powerpoint/2010/main" val="2164184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1D6D4B-75DD-FD2B-916A-B5AABB66E94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B2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A43A5-A990-8C46-9E6A-2C4F9164586C}"/>
              </a:ext>
            </a:extLst>
          </p:cNvPr>
          <p:cNvSpPr txBox="1"/>
          <p:nvPr/>
        </p:nvSpPr>
        <p:spPr>
          <a:xfrm>
            <a:off x="685800" y="4318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141F33"/>
                </a:solidFill>
                <a:latin typeface="Georgia" panose="02040502050405020303" pitchFamily="18" charset="0"/>
              </a:rPr>
              <a:t>Regulatory alerts stop too early</a:t>
            </a:r>
            <a:endParaRPr lang="en-SG" sz="2700" b="1">
              <a:solidFill>
                <a:srgbClr val="141F33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F8D334-A562-67D4-E5FA-740D12F01F2A}"/>
              </a:ext>
            </a:extLst>
          </p:cNvPr>
          <p:cNvSpPr txBox="1"/>
          <p:nvPr/>
        </p:nvSpPr>
        <p:spPr>
          <a:xfrm>
            <a:off x="10922000" y="508000"/>
            <a:ext cx="6096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SG" sz="1100" b="1">
                <a:solidFill>
                  <a:srgbClr val="B28B43"/>
                </a:solidFill>
                <a:latin typeface="Aptos" panose="020B0004020202020204" pitchFamily="34" charset="0"/>
              </a:rPr>
              <a:t>02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49EA25A-FB9E-47C4-17D8-2A4CCBBF8F2B}"/>
              </a:ext>
            </a:extLst>
          </p:cNvPr>
          <p:cNvCxnSpPr/>
          <p:nvPr/>
        </p:nvCxnSpPr>
        <p:spPr>
          <a:xfrm>
            <a:off x="685800" y="1193800"/>
            <a:ext cx="10820400" cy="0"/>
          </a:xfrm>
          <a:prstGeom prst="line">
            <a:avLst/>
          </a:prstGeom>
          <a:ln w="12700">
            <a:solidFill>
              <a:srgbClr val="CFCA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4E419FA-2383-702B-42A8-6B3B4030FB23}"/>
              </a:ext>
            </a:extLst>
          </p:cNvPr>
          <p:cNvSpPr txBox="1"/>
          <p:nvPr/>
        </p:nvSpPr>
        <p:spPr>
          <a:xfrm>
            <a:off x="698500" y="1600200"/>
            <a:ext cx="4953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00">
                <a:solidFill>
                  <a:srgbClr val="646970"/>
                </a:solidFill>
                <a:latin typeface="Aptos" panose="020B0004020202020204" pitchFamily="34" charset="0"/>
              </a:rPr>
              <a:t>Existing horizon scanners answer one question</a:t>
            </a:r>
            <a:endParaRPr lang="en-SG" sz="1400">
              <a:solidFill>
                <a:srgbClr val="64697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C0D56B-5928-0E3E-4CB5-4327EE00BB01}"/>
              </a:ext>
            </a:extLst>
          </p:cNvPr>
          <p:cNvSpPr txBox="1"/>
          <p:nvPr/>
        </p:nvSpPr>
        <p:spPr>
          <a:xfrm>
            <a:off x="698500" y="2006600"/>
            <a:ext cx="4953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41F33"/>
                </a:solidFill>
                <a:latin typeface="Georgia" panose="02040502050405020303" pitchFamily="18" charset="0"/>
              </a:rPr>
              <a:t>What changed in the law?</a:t>
            </a:r>
            <a:endParaRPr lang="en-SG" sz="2800" b="1">
              <a:solidFill>
                <a:srgbClr val="141F33"/>
              </a:solidFill>
              <a:latin typeface="Georgia" panose="02040502050405020303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278A09-E77A-E8A7-A650-C0DF92A2811D}"/>
              </a:ext>
            </a:extLst>
          </p:cNvPr>
          <p:cNvCxnSpPr/>
          <p:nvPr/>
        </p:nvCxnSpPr>
        <p:spPr>
          <a:xfrm>
            <a:off x="5778500" y="1676400"/>
            <a:ext cx="0" cy="3708400"/>
          </a:xfrm>
          <a:prstGeom prst="line">
            <a:avLst/>
          </a:prstGeom>
          <a:ln w="12700">
            <a:solidFill>
              <a:srgbClr val="CFCA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60240C-055A-6CCF-391F-A598E0AF0A65}"/>
              </a:ext>
            </a:extLst>
          </p:cNvPr>
          <p:cNvSpPr txBox="1"/>
          <p:nvPr/>
        </p:nvSpPr>
        <p:spPr>
          <a:xfrm>
            <a:off x="6413500" y="1600200"/>
            <a:ext cx="508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00">
                <a:solidFill>
                  <a:srgbClr val="646970"/>
                </a:solidFill>
                <a:latin typeface="Aptos" panose="020B0004020202020204" pitchFamily="34" charset="0"/>
              </a:rPr>
              <a:t>Lawyers still have to answer the operational question</a:t>
            </a:r>
            <a:endParaRPr lang="en-SG" sz="1400">
              <a:solidFill>
                <a:srgbClr val="646970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6C83E0-5F94-3E86-C307-E489533F56B7}"/>
              </a:ext>
            </a:extLst>
          </p:cNvPr>
          <p:cNvSpPr txBox="1"/>
          <p:nvPr/>
        </p:nvSpPr>
        <p:spPr>
          <a:xfrm>
            <a:off x="6413500" y="2006600"/>
            <a:ext cx="5080000" cy="8617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9B2226"/>
                </a:solidFill>
                <a:latin typeface="Georgia" panose="02040502050405020303" pitchFamily="18" charset="0"/>
              </a:rPr>
              <a:t>Which confidential files now need review?</a:t>
            </a:r>
            <a:endParaRPr lang="en-SG" sz="2800" b="1">
              <a:solidFill>
                <a:srgbClr val="9B2226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138B77-D76E-2822-3285-5343BB36E7B1}"/>
              </a:ext>
            </a:extLst>
          </p:cNvPr>
          <p:cNvSpPr txBox="1"/>
          <p:nvPr/>
        </p:nvSpPr>
        <p:spPr>
          <a:xfrm>
            <a:off x="762000" y="3962400"/>
            <a:ext cx="381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SG" sz="1300" b="1">
                <a:solidFill>
                  <a:srgbClr val="B28B43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CBBB0D-01D7-3C3A-7D08-A4095C4B7D71}"/>
              </a:ext>
            </a:extLst>
          </p:cNvPr>
          <p:cNvSpPr txBox="1"/>
          <p:nvPr/>
        </p:nvSpPr>
        <p:spPr>
          <a:xfrm>
            <a:off x="1244600" y="3911600"/>
            <a:ext cx="2032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200" b="1">
                <a:solidFill>
                  <a:srgbClr val="141F33"/>
                </a:solidFill>
                <a:latin typeface="Aptos" panose="020B0004020202020204" pitchFamily="34" charset="0"/>
              </a:rPr>
              <a:t>Read the alert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C91D69-4020-7743-ED47-7DDDFB616768}"/>
              </a:ext>
            </a:extLst>
          </p:cNvPr>
          <p:cNvSpPr txBox="1"/>
          <p:nvPr/>
        </p:nvSpPr>
        <p:spPr>
          <a:xfrm>
            <a:off x="3492500" y="3962400"/>
            <a:ext cx="381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SG" sz="1300" b="1">
                <a:solidFill>
                  <a:srgbClr val="B28B43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236E24-B7A8-3A0C-0CFE-33FFB392E809}"/>
              </a:ext>
            </a:extLst>
          </p:cNvPr>
          <p:cNvSpPr txBox="1"/>
          <p:nvPr/>
        </p:nvSpPr>
        <p:spPr>
          <a:xfrm>
            <a:off x="3975100" y="3911600"/>
            <a:ext cx="2032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200" b="1">
                <a:solidFill>
                  <a:srgbClr val="141F33"/>
                </a:solidFill>
                <a:latin typeface="Aptos" panose="020B0004020202020204" pitchFamily="34" charset="0"/>
              </a:rPr>
              <a:t>Search document stores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DEF5DC-F32D-4921-E8C1-9F0DEF868F51}"/>
              </a:ext>
            </a:extLst>
          </p:cNvPr>
          <p:cNvSpPr txBox="1"/>
          <p:nvPr/>
        </p:nvSpPr>
        <p:spPr>
          <a:xfrm>
            <a:off x="6223000" y="3962400"/>
            <a:ext cx="381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SG" sz="1300" b="1">
                <a:solidFill>
                  <a:srgbClr val="B28B43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ED502C-F0D4-E6C0-B585-21118D9ADB91}"/>
              </a:ext>
            </a:extLst>
          </p:cNvPr>
          <p:cNvSpPr txBox="1"/>
          <p:nvPr/>
        </p:nvSpPr>
        <p:spPr>
          <a:xfrm>
            <a:off x="6705600" y="3911600"/>
            <a:ext cx="2032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200" b="1">
                <a:solidFill>
                  <a:srgbClr val="141F33"/>
                </a:solidFill>
                <a:latin typeface="Aptos" panose="020B0004020202020204" pitchFamily="34" charset="0"/>
              </a:rPr>
              <a:t>Compare clauses manually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5CB23E-D45D-CACA-75D0-B86C82AA269B}"/>
              </a:ext>
            </a:extLst>
          </p:cNvPr>
          <p:cNvSpPr txBox="1"/>
          <p:nvPr/>
        </p:nvSpPr>
        <p:spPr>
          <a:xfrm>
            <a:off x="8953500" y="3962400"/>
            <a:ext cx="381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SG" sz="1300" b="1">
                <a:solidFill>
                  <a:srgbClr val="B28B43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A75599-9FBB-62F9-4FCC-9B25892BFF45}"/>
              </a:ext>
            </a:extLst>
          </p:cNvPr>
          <p:cNvSpPr txBox="1"/>
          <p:nvPr/>
        </p:nvSpPr>
        <p:spPr>
          <a:xfrm>
            <a:off x="9436100" y="3911600"/>
            <a:ext cx="2032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200" b="1">
                <a:solidFill>
                  <a:srgbClr val="141F33"/>
                </a:solidFill>
                <a:latin typeface="Aptos" panose="020B0004020202020204" pitchFamily="34" charset="0"/>
              </a:rPr>
              <a:t>Draft and validate changes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2D93BE-F883-3C5D-86C1-A7C48CECB871}"/>
              </a:ext>
            </a:extLst>
          </p:cNvPr>
          <p:cNvCxnSpPr/>
          <p:nvPr/>
        </p:nvCxnSpPr>
        <p:spPr>
          <a:xfrm>
            <a:off x="1206500" y="4635500"/>
            <a:ext cx="9207500" cy="0"/>
          </a:xfrm>
          <a:prstGeom prst="line">
            <a:avLst/>
          </a:prstGeom>
          <a:ln w="25400">
            <a:solidFill>
              <a:srgbClr val="CFCAB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57BA8B3-BCBC-59BB-C651-FFBCF6979A4E}"/>
              </a:ext>
            </a:extLst>
          </p:cNvPr>
          <p:cNvSpPr/>
          <p:nvPr/>
        </p:nvSpPr>
        <p:spPr>
          <a:xfrm>
            <a:off x="3365500" y="4965700"/>
            <a:ext cx="5715000" cy="584200"/>
          </a:xfrm>
          <a:prstGeom prst="rect">
            <a:avLst/>
          </a:prstGeom>
          <a:solidFill>
            <a:srgbClr val="F5E7E7"/>
          </a:solidFill>
          <a:ln w="12700">
            <a:solidFill>
              <a:srgbClr val="9B22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649A54-AE7B-227F-31E6-D2575BD09B22}"/>
              </a:ext>
            </a:extLst>
          </p:cNvPr>
          <p:cNvSpPr txBox="1"/>
          <p:nvPr/>
        </p:nvSpPr>
        <p:spPr>
          <a:xfrm>
            <a:off x="3619500" y="5130800"/>
            <a:ext cx="520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200" b="1">
                <a:solidFill>
                  <a:srgbClr val="9B2226"/>
                </a:solidFill>
                <a:latin typeface="Aptos" panose="020B0004020202020204" pitchFamily="34" charset="0"/>
              </a:rPr>
              <a:t>Manual search and clause review consume billable time and can miss affected files</a:t>
            </a:r>
            <a:endParaRPr lang="en-SG" sz="1200" b="1">
              <a:solidFill>
                <a:srgbClr val="9B2226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9FC5F4-09B4-CA4C-FA29-51964AC6C0B0}"/>
              </a:ext>
            </a:extLst>
          </p:cNvPr>
          <p:cNvSpPr txBox="1"/>
          <p:nvPr/>
        </p:nvSpPr>
        <p:spPr>
          <a:xfrm>
            <a:off x="685800" y="64897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sv-SE" sz="800">
                <a:solidFill>
                  <a:srgbClr val="646970"/>
                </a:solidFill>
                <a:latin typeface="Aptos" panose="020B0004020202020204" pitchFamily="34" charset="0"/>
              </a:rPr>
              <a:t>L.A.R.P.  |  SMU LIT Hackathon 2026</a:t>
            </a:r>
            <a:endParaRPr lang="en-SG" sz="800">
              <a:solidFill>
                <a:srgbClr val="64697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454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45D40D-40B3-52EA-CB83-D88ABB594D4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B2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3EECD-D23B-15EB-65F2-88BF0788F31B}"/>
              </a:ext>
            </a:extLst>
          </p:cNvPr>
          <p:cNvSpPr txBox="1"/>
          <p:nvPr/>
        </p:nvSpPr>
        <p:spPr>
          <a:xfrm>
            <a:off x="685800" y="4318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141F33"/>
                </a:solidFill>
                <a:latin typeface="Georgia" panose="02040502050405020303" pitchFamily="18" charset="0"/>
              </a:rPr>
              <a:t>One workflow from source to working copy</a:t>
            </a:r>
            <a:endParaRPr lang="en-SG" sz="2700" b="1">
              <a:solidFill>
                <a:srgbClr val="141F33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C75D1E-1C00-E1B4-6BE6-9984007A551F}"/>
              </a:ext>
            </a:extLst>
          </p:cNvPr>
          <p:cNvSpPr txBox="1"/>
          <p:nvPr/>
        </p:nvSpPr>
        <p:spPr>
          <a:xfrm>
            <a:off x="10922000" y="508000"/>
            <a:ext cx="6096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SG" sz="1100" b="1">
                <a:solidFill>
                  <a:srgbClr val="B28B43"/>
                </a:solidFill>
                <a:latin typeface="Aptos" panose="020B0004020202020204" pitchFamily="34" charset="0"/>
              </a:rPr>
              <a:t>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029144-2478-E3DA-0A19-03476876DBC2}"/>
              </a:ext>
            </a:extLst>
          </p:cNvPr>
          <p:cNvCxnSpPr/>
          <p:nvPr/>
        </p:nvCxnSpPr>
        <p:spPr>
          <a:xfrm>
            <a:off x="685800" y="1193800"/>
            <a:ext cx="10820400" cy="0"/>
          </a:xfrm>
          <a:prstGeom prst="line">
            <a:avLst/>
          </a:prstGeom>
          <a:ln w="12700">
            <a:solidFill>
              <a:srgbClr val="CFCA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7700057-F8B4-FE11-8524-1C456538F4F8}"/>
              </a:ext>
            </a:extLst>
          </p:cNvPr>
          <p:cNvSpPr txBox="1"/>
          <p:nvPr/>
        </p:nvSpPr>
        <p:spPr>
          <a:xfrm>
            <a:off x="698500" y="1841500"/>
            <a:ext cx="762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2200" b="1">
                <a:solidFill>
                  <a:srgbClr val="B28B43"/>
                </a:solidFill>
                <a:latin typeface="Georgia" panose="02040502050405020303" pitchFamily="18" charset="0"/>
              </a:rPr>
              <a:t>01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AAE284-5EBF-9142-BFBC-F68CEAB36C07}"/>
              </a:ext>
            </a:extLst>
          </p:cNvPr>
          <p:cNvCxnSpPr/>
          <p:nvPr/>
        </p:nvCxnSpPr>
        <p:spPr>
          <a:xfrm>
            <a:off x="698500" y="2413000"/>
            <a:ext cx="1625600" cy="0"/>
          </a:xfrm>
          <a:prstGeom prst="line">
            <a:avLst/>
          </a:prstGeom>
          <a:ln w="25400">
            <a:solidFill>
              <a:srgbClr val="B28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B16C218-884C-8058-3F1E-084DF0A96050}"/>
              </a:ext>
            </a:extLst>
          </p:cNvPr>
          <p:cNvSpPr txBox="1"/>
          <p:nvPr/>
        </p:nvSpPr>
        <p:spPr>
          <a:xfrm>
            <a:off x="698500" y="2692400"/>
            <a:ext cx="17145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300" b="1">
                <a:solidFill>
                  <a:srgbClr val="141F33"/>
                </a:solidFill>
                <a:latin typeface="Aptos" panose="020B0004020202020204" pitchFamily="34" charset="0"/>
              </a:rPr>
              <a:t>MONITOR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916C0-8CD4-99EE-9996-FBECA0AAA65B}"/>
              </a:ext>
            </a:extLst>
          </p:cNvPr>
          <p:cNvSpPr txBox="1"/>
          <p:nvPr/>
        </p:nvSpPr>
        <p:spPr>
          <a:xfrm>
            <a:off x="698500" y="31623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646970"/>
                </a:solidFill>
                <a:latin typeface="Aptos" panose="020B0004020202020204" pitchFamily="34" charset="0"/>
              </a:rPr>
              <a:t>Official Acts, Bills and consultations</a:t>
            </a:r>
            <a:endParaRPr lang="en-SG" sz="1200">
              <a:solidFill>
                <a:srgbClr val="646970"/>
              </a:solidFill>
              <a:latin typeface="Aptos" panose="020B00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14DB76-DDBD-A078-CAA5-B68428D6B607}"/>
              </a:ext>
            </a:extLst>
          </p:cNvPr>
          <p:cNvCxnSpPr/>
          <p:nvPr/>
        </p:nvCxnSpPr>
        <p:spPr>
          <a:xfrm>
            <a:off x="2514600" y="2413000"/>
            <a:ext cx="317500" cy="0"/>
          </a:xfrm>
          <a:prstGeom prst="line">
            <a:avLst/>
          </a:prstGeom>
          <a:ln w="19050">
            <a:solidFill>
              <a:srgbClr val="CFCAB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145C5A5-9DC9-3D82-4C1B-23EF900FCEF8}"/>
              </a:ext>
            </a:extLst>
          </p:cNvPr>
          <p:cNvSpPr txBox="1"/>
          <p:nvPr/>
        </p:nvSpPr>
        <p:spPr>
          <a:xfrm>
            <a:off x="2946400" y="1841500"/>
            <a:ext cx="762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2200" b="1">
                <a:solidFill>
                  <a:srgbClr val="B28B43"/>
                </a:solidFill>
                <a:latin typeface="Georgia" panose="02040502050405020303" pitchFamily="18" charset="0"/>
              </a:rPr>
              <a:t>02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E59FD5E-4331-89E7-BFA8-7A0E0F63806E}"/>
              </a:ext>
            </a:extLst>
          </p:cNvPr>
          <p:cNvCxnSpPr/>
          <p:nvPr/>
        </p:nvCxnSpPr>
        <p:spPr>
          <a:xfrm>
            <a:off x="2946400" y="2413000"/>
            <a:ext cx="1625600" cy="0"/>
          </a:xfrm>
          <a:prstGeom prst="line">
            <a:avLst/>
          </a:prstGeom>
          <a:ln w="25400">
            <a:solidFill>
              <a:srgbClr val="B28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3C7D0F2-FF36-70C3-EC09-D6EA954D0998}"/>
              </a:ext>
            </a:extLst>
          </p:cNvPr>
          <p:cNvSpPr txBox="1"/>
          <p:nvPr/>
        </p:nvSpPr>
        <p:spPr>
          <a:xfrm>
            <a:off x="2946400" y="2692400"/>
            <a:ext cx="17145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300" b="1">
                <a:solidFill>
                  <a:srgbClr val="141F33"/>
                </a:solidFill>
                <a:latin typeface="Aptos" panose="020B0004020202020204" pitchFamily="34" charset="0"/>
              </a:rPr>
              <a:t>COMPARE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FB399-89DD-FE10-A675-685B40D17FB5}"/>
              </a:ext>
            </a:extLst>
          </p:cNvPr>
          <p:cNvSpPr txBox="1"/>
          <p:nvPr/>
        </p:nvSpPr>
        <p:spPr>
          <a:xfrm>
            <a:off x="2946400" y="31623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646970"/>
                </a:solidFill>
                <a:latin typeface="Aptos" panose="020B0004020202020204" pitchFamily="34" charset="0"/>
              </a:rPr>
              <a:t>Past and present legal text</a:t>
            </a:r>
            <a:endParaRPr lang="en-SG" sz="1200">
              <a:solidFill>
                <a:srgbClr val="646970"/>
              </a:solidFill>
              <a:latin typeface="Aptos" panose="020B00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32A4BF-50FB-670E-C1CF-41F44E38F9E3}"/>
              </a:ext>
            </a:extLst>
          </p:cNvPr>
          <p:cNvCxnSpPr/>
          <p:nvPr/>
        </p:nvCxnSpPr>
        <p:spPr>
          <a:xfrm>
            <a:off x="4762500" y="2413000"/>
            <a:ext cx="317500" cy="0"/>
          </a:xfrm>
          <a:prstGeom prst="line">
            <a:avLst/>
          </a:prstGeom>
          <a:ln w="19050">
            <a:solidFill>
              <a:srgbClr val="CFCAB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7D68837-0778-EBE8-84F2-6164AB1B3730}"/>
              </a:ext>
            </a:extLst>
          </p:cNvPr>
          <p:cNvSpPr txBox="1"/>
          <p:nvPr/>
        </p:nvSpPr>
        <p:spPr>
          <a:xfrm>
            <a:off x="5194300" y="1841500"/>
            <a:ext cx="762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2200" b="1">
                <a:solidFill>
                  <a:srgbClr val="B28B43"/>
                </a:solidFill>
                <a:latin typeface="Georgia" panose="02040502050405020303" pitchFamily="18" charset="0"/>
              </a:rPr>
              <a:t>03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146611-1269-16F5-044B-BE2632F94F74}"/>
              </a:ext>
            </a:extLst>
          </p:cNvPr>
          <p:cNvCxnSpPr/>
          <p:nvPr/>
        </p:nvCxnSpPr>
        <p:spPr>
          <a:xfrm>
            <a:off x="5194300" y="2413000"/>
            <a:ext cx="1625600" cy="0"/>
          </a:xfrm>
          <a:prstGeom prst="line">
            <a:avLst/>
          </a:prstGeom>
          <a:ln w="25400">
            <a:solidFill>
              <a:srgbClr val="B28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4FFD0F0-171A-A89E-DE47-CEA422BD70C0}"/>
              </a:ext>
            </a:extLst>
          </p:cNvPr>
          <p:cNvSpPr txBox="1"/>
          <p:nvPr/>
        </p:nvSpPr>
        <p:spPr>
          <a:xfrm>
            <a:off x="5194300" y="2692400"/>
            <a:ext cx="17145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300" b="1">
                <a:solidFill>
                  <a:srgbClr val="141F33"/>
                </a:solidFill>
                <a:latin typeface="Aptos" panose="020B0004020202020204" pitchFamily="34" charset="0"/>
              </a:rPr>
              <a:t>TRACE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0BE2CF-1696-89BA-DA93-9E51E6591608}"/>
              </a:ext>
            </a:extLst>
          </p:cNvPr>
          <p:cNvSpPr txBox="1"/>
          <p:nvPr/>
        </p:nvSpPr>
        <p:spPr>
          <a:xfrm>
            <a:off x="5194300" y="31623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646970"/>
                </a:solidFill>
                <a:latin typeface="Aptos" panose="020B0004020202020204" pitchFamily="34" charset="0"/>
              </a:rPr>
              <a:t>Affected contract families and clauses</a:t>
            </a:r>
            <a:endParaRPr lang="en-SG" sz="1200">
              <a:solidFill>
                <a:srgbClr val="646970"/>
              </a:solidFill>
              <a:latin typeface="Aptos" panose="020B000402020202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793F202-F17F-C18E-E92A-F05FA78DD9CB}"/>
              </a:ext>
            </a:extLst>
          </p:cNvPr>
          <p:cNvCxnSpPr/>
          <p:nvPr/>
        </p:nvCxnSpPr>
        <p:spPr>
          <a:xfrm>
            <a:off x="7010400" y="2413000"/>
            <a:ext cx="317500" cy="0"/>
          </a:xfrm>
          <a:prstGeom prst="line">
            <a:avLst/>
          </a:prstGeom>
          <a:ln w="19050">
            <a:solidFill>
              <a:srgbClr val="CFCAB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333788D-D985-57CA-1C47-EB6224A6F708}"/>
              </a:ext>
            </a:extLst>
          </p:cNvPr>
          <p:cNvSpPr txBox="1"/>
          <p:nvPr/>
        </p:nvSpPr>
        <p:spPr>
          <a:xfrm>
            <a:off x="7442200" y="1841500"/>
            <a:ext cx="762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2200" b="1">
                <a:solidFill>
                  <a:srgbClr val="B28B43"/>
                </a:solidFill>
                <a:latin typeface="Georgia" panose="02040502050405020303" pitchFamily="18" charset="0"/>
              </a:rPr>
              <a:t>04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BB6CCE-B20A-16E9-EF52-E06D704B11CE}"/>
              </a:ext>
            </a:extLst>
          </p:cNvPr>
          <p:cNvCxnSpPr/>
          <p:nvPr/>
        </p:nvCxnSpPr>
        <p:spPr>
          <a:xfrm>
            <a:off x="7442200" y="2413000"/>
            <a:ext cx="1625600" cy="0"/>
          </a:xfrm>
          <a:prstGeom prst="line">
            <a:avLst/>
          </a:prstGeom>
          <a:ln w="25400">
            <a:solidFill>
              <a:srgbClr val="B28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C2960CD-422B-D3E1-72C2-2952798EA6CC}"/>
              </a:ext>
            </a:extLst>
          </p:cNvPr>
          <p:cNvSpPr txBox="1"/>
          <p:nvPr/>
        </p:nvSpPr>
        <p:spPr>
          <a:xfrm>
            <a:off x="7442200" y="2692400"/>
            <a:ext cx="17145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300" b="1">
                <a:solidFill>
                  <a:srgbClr val="141F33"/>
                </a:solidFill>
                <a:latin typeface="Aptos" panose="020B0004020202020204" pitchFamily="34" charset="0"/>
              </a:rPr>
              <a:t>REVIEW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3FC7A7-A02B-51B1-E2AB-89EE83F21C31}"/>
              </a:ext>
            </a:extLst>
          </p:cNvPr>
          <p:cNvSpPr txBox="1"/>
          <p:nvPr/>
        </p:nvSpPr>
        <p:spPr>
          <a:xfrm>
            <a:off x="7442200" y="31623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646970"/>
                </a:solidFill>
                <a:latin typeface="Aptos" panose="020B0004020202020204" pitchFamily="34" charset="0"/>
              </a:rPr>
              <a:t>AI suggestions with legal sources</a:t>
            </a:r>
            <a:endParaRPr lang="en-SG" sz="1200">
              <a:solidFill>
                <a:srgbClr val="646970"/>
              </a:solidFill>
              <a:latin typeface="Aptos" panose="020B0004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75A025-1972-2692-22CE-A77568B5CDB6}"/>
              </a:ext>
            </a:extLst>
          </p:cNvPr>
          <p:cNvCxnSpPr/>
          <p:nvPr/>
        </p:nvCxnSpPr>
        <p:spPr>
          <a:xfrm>
            <a:off x="9258300" y="2413000"/>
            <a:ext cx="317500" cy="0"/>
          </a:xfrm>
          <a:prstGeom prst="line">
            <a:avLst/>
          </a:prstGeom>
          <a:ln w="19050">
            <a:solidFill>
              <a:srgbClr val="CFCAB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C79D39E-D375-32E8-4C6C-EEB62B505EE0}"/>
              </a:ext>
            </a:extLst>
          </p:cNvPr>
          <p:cNvSpPr txBox="1"/>
          <p:nvPr/>
        </p:nvSpPr>
        <p:spPr>
          <a:xfrm>
            <a:off x="9690100" y="1841500"/>
            <a:ext cx="762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2200" b="1">
                <a:solidFill>
                  <a:srgbClr val="B28B43"/>
                </a:solidFill>
                <a:latin typeface="Georgia" panose="02040502050405020303" pitchFamily="18" charset="0"/>
              </a:rPr>
              <a:t>05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7F3B20-D87D-7051-44DE-94A064C55DE0}"/>
              </a:ext>
            </a:extLst>
          </p:cNvPr>
          <p:cNvCxnSpPr/>
          <p:nvPr/>
        </p:nvCxnSpPr>
        <p:spPr>
          <a:xfrm>
            <a:off x="9690100" y="2413000"/>
            <a:ext cx="1625600" cy="0"/>
          </a:xfrm>
          <a:prstGeom prst="line">
            <a:avLst/>
          </a:prstGeom>
          <a:ln w="25400">
            <a:solidFill>
              <a:srgbClr val="B28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42AB203-E4B1-57D9-26F2-DB4DFB08A292}"/>
              </a:ext>
            </a:extLst>
          </p:cNvPr>
          <p:cNvSpPr txBox="1"/>
          <p:nvPr/>
        </p:nvSpPr>
        <p:spPr>
          <a:xfrm>
            <a:off x="9690100" y="2692400"/>
            <a:ext cx="17145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300" b="1">
                <a:solidFill>
                  <a:srgbClr val="141F33"/>
                </a:solidFill>
                <a:latin typeface="Aptos" panose="020B0004020202020204" pitchFamily="34" charset="0"/>
              </a:rPr>
              <a:t>DOWNLOAD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658E6F-B455-FBCA-AF1F-7C31FC609232}"/>
              </a:ext>
            </a:extLst>
          </p:cNvPr>
          <p:cNvSpPr txBox="1"/>
          <p:nvPr/>
        </p:nvSpPr>
        <p:spPr>
          <a:xfrm>
            <a:off x="9690100" y="31623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200">
                <a:solidFill>
                  <a:srgbClr val="646970"/>
                </a:solidFill>
                <a:latin typeface="Aptos" panose="020B0004020202020204" pitchFamily="34" charset="0"/>
              </a:rPr>
              <a:t>Approved Word working copy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FD104D-C7B1-66A1-7128-D1B7D6740DDB}"/>
              </a:ext>
            </a:extLst>
          </p:cNvPr>
          <p:cNvSpPr/>
          <p:nvPr/>
        </p:nvSpPr>
        <p:spPr>
          <a:xfrm>
            <a:off x="698500" y="4737100"/>
            <a:ext cx="10795000" cy="850900"/>
          </a:xfrm>
          <a:prstGeom prst="rect">
            <a:avLst/>
          </a:prstGeom>
          <a:solidFill>
            <a:srgbClr val="14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E6CBB1-D90E-F918-0F58-1C7D6D106011}"/>
              </a:ext>
            </a:extLst>
          </p:cNvPr>
          <p:cNvSpPr txBox="1"/>
          <p:nvPr/>
        </p:nvSpPr>
        <p:spPr>
          <a:xfrm>
            <a:off x="1003300" y="4953000"/>
            <a:ext cx="6477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>
                <a:solidFill>
                  <a:srgbClr val="F7F4EE"/>
                </a:solidFill>
                <a:latin typeface="Georgia" panose="02040502050405020303" pitchFamily="18" charset="0"/>
              </a:rPr>
              <a:t>The source contract stays untouched in Cloudflare R2</a:t>
            </a:r>
            <a:endParaRPr lang="en-SG" sz="1700" b="1">
              <a:solidFill>
                <a:srgbClr val="F7F4EE"/>
              </a:solidFill>
              <a:latin typeface="Georgia" panose="02040502050405020303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8B1585-C4F5-57EA-4478-9253D09E4057}"/>
              </a:ext>
            </a:extLst>
          </p:cNvPr>
          <p:cNvSpPr txBox="1"/>
          <p:nvPr/>
        </p:nvSpPr>
        <p:spPr>
          <a:xfrm>
            <a:off x="7975600" y="4991100"/>
            <a:ext cx="31115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100">
                <a:solidFill>
                  <a:srgbClr val="BFC7D0"/>
                </a:solidFill>
                <a:latin typeface="Aptos" panose="020B0004020202020204" pitchFamily="34" charset="0"/>
              </a:rPr>
              <a:t>Only the downloaded working copy contains approved edits</a:t>
            </a:r>
            <a:endParaRPr lang="en-SG" sz="1100">
              <a:solidFill>
                <a:srgbClr val="BFC7D0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A0632C-88C4-E3CE-8A86-6BBE23F7305E}"/>
              </a:ext>
            </a:extLst>
          </p:cNvPr>
          <p:cNvSpPr txBox="1"/>
          <p:nvPr/>
        </p:nvSpPr>
        <p:spPr>
          <a:xfrm>
            <a:off x="685800" y="64897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sv-SE" sz="800">
                <a:solidFill>
                  <a:srgbClr val="646970"/>
                </a:solidFill>
                <a:latin typeface="Aptos" panose="020B0004020202020204" pitchFamily="34" charset="0"/>
              </a:rPr>
              <a:t>L.A.R.P.  |  SMU LIT Hackathon 2026</a:t>
            </a:r>
            <a:endParaRPr lang="en-SG" sz="800">
              <a:solidFill>
                <a:srgbClr val="64697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29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>
            <a:extLst>
              <a:ext uri="{FF2B5EF4-FFF2-40B4-BE49-F238E27FC236}">
                <a16:creationId xmlns:a16="http://schemas.microsoft.com/office/drawing/2014/main" id="{392C7658-7A4B-C2D2-122D-62F509EB644F}"/>
              </a:ext>
            </a:extLst>
          </p:cNvPr>
          <p:cNvSpPr/>
          <p:nvPr/>
        </p:nvSpPr>
        <p:spPr>
          <a:xfrm>
            <a:off x="9334500" y="4940300"/>
            <a:ext cx="317500" cy="317500"/>
          </a:xfrm>
          <a:prstGeom prst="ellipse">
            <a:avLst/>
          </a:prstGeom>
          <a:solidFill>
            <a:srgbClr val="B2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24FBA27-0D5C-E08B-A119-7167BA748B57}"/>
              </a:ext>
            </a:extLst>
          </p:cNvPr>
          <p:cNvSpPr/>
          <p:nvPr/>
        </p:nvSpPr>
        <p:spPr>
          <a:xfrm>
            <a:off x="7175500" y="4940300"/>
            <a:ext cx="317500" cy="317500"/>
          </a:xfrm>
          <a:prstGeom prst="ellipse">
            <a:avLst/>
          </a:prstGeom>
          <a:solidFill>
            <a:srgbClr val="B2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99154A-0F9A-1B2D-B80D-9F108BA3BE2B}"/>
              </a:ext>
            </a:extLst>
          </p:cNvPr>
          <p:cNvSpPr/>
          <p:nvPr/>
        </p:nvSpPr>
        <p:spPr>
          <a:xfrm>
            <a:off x="5016500" y="4940300"/>
            <a:ext cx="317500" cy="317500"/>
          </a:xfrm>
          <a:prstGeom prst="ellipse">
            <a:avLst/>
          </a:prstGeom>
          <a:solidFill>
            <a:srgbClr val="B2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984C46F-D144-7864-1E79-019023436219}"/>
              </a:ext>
            </a:extLst>
          </p:cNvPr>
          <p:cNvSpPr/>
          <p:nvPr/>
        </p:nvSpPr>
        <p:spPr>
          <a:xfrm>
            <a:off x="2857500" y="4940300"/>
            <a:ext cx="317500" cy="317500"/>
          </a:xfrm>
          <a:prstGeom prst="ellipse">
            <a:avLst/>
          </a:prstGeom>
          <a:solidFill>
            <a:srgbClr val="B2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9653C9-9503-A1EA-C94E-5BD855A21381}"/>
              </a:ext>
            </a:extLst>
          </p:cNvPr>
          <p:cNvSpPr/>
          <p:nvPr/>
        </p:nvSpPr>
        <p:spPr>
          <a:xfrm>
            <a:off x="698500" y="4940300"/>
            <a:ext cx="317500" cy="317500"/>
          </a:xfrm>
          <a:prstGeom prst="ellipse">
            <a:avLst/>
          </a:prstGeom>
          <a:solidFill>
            <a:srgbClr val="B2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019679-2FAA-9F62-4A8F-0EEB46DF39E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B2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EC014D-3890-1FC7-472E-C2472B5C3537}"/>
              </a:ext>
            </a:extLst>
          </p:cNvPr>
          <p:cNvSpPr txBox="1"/>
          <p:nvPr/>
        </p:nvSpPr>
        <p:spPr>
          <a:xfrm>
            <a:off x="685800" y="4318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700" b="1">
                <a:solidFill>
                  <a:srgbClr val="141F33"/>
                </a:solidFill>
                <a:latin typeface="Georgia" panose="02040502050405020303" pitchFamily="18" charset="0"/>
              </a:rPr>
              <a:t>Demo route: PDPA and Workplace Fairness</a:t>
            </a:r>
            <a:endParaRPr lang="en-SG" sz="2700" b="1">
              <a:solidFill>
                <a:srgbClr val="141F33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2BFE1-5C11-C709-7103-6C9138F3C9EE}"/>
              </a:ext>
            </a:extLst>
          </p:cNvPr>
          <p:cNvSpPr txBox="1"/>
          <p:nvPr/>
        </p:nvSpPr>
        <p:spPr>
          <a:xfrm>
            <a:off x="10922000" y="508000"/>
            <a:ext cx="6096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SG" sz="1100" b="1">
                <a:solidFill>
                  <a:srgbClr val="B28B43"/>
                </a:solidFill>
                <a:latin typeface="Aptos" panose="020B0004020202020204" pitchFamily="34" charset="0"/>
              </a:rPr>
              <a:t>04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AAE142-E836-54BF-64C0-0B621678C282}"/>
              </a:ext>
            </a:extLst>
          </p:cNvPr>
          <p:cNvCxnSpPr/>
          <p:nvPr/>
        </p:nvCxnSpPr>
        <p:spPr>
          <a:xfrm>
            <a:off x="685800" y="1193800"/>
            <a:ext cx="10820400" cy="0"/>
          </a:xfrm>
          <a:prstGeom prst="line">
            <a:avLst/>
          </a:prstGeom>
          <a:ln w="12700">
            <a:solidFill>
              <a:srgbClr val="CFCA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FB7D379-3E5C-2EC2-866D-F09520C26FF8}"/>
              </a:ext>
            </a:extLst>
          </p:cNvPr>
          <p:cNvSpPr/>
          <p:nvPr/>
        </p:nvSpPr>
        <p:spPr>
          <a:xfrm>
            <a:off x="698500" y="1600200"/>
            <a:ext cx="5016500" cy="2413000"/>
          </a:xfrm>
          <a:prstGeom prst="rect">
            <a:avLst/>
          </a:prstGeom>
          <a:solidFill>
            <a:srgbClr val="14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1BD416-D625-DB2F-10B9-CC7C0A2EAAC7}"/>
              </a:ext>
            </a:extLst>
          </p:cNvPr>
          <p:cNvSpPr txBox="1"/>
          <p:nvPr/>
        </p:nvSpPr>
        <p:spPr>
          <a:xfrm>
            <a:off x="990600" y="1879600"/>
            <a:ext cx="1143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200" b="1">
                <a:solidFill>
                  <a:srgbClr val="B28B43"/>
                </a:solidFill>
                <a:latin typeface="Aptos" panose="020B0004020202020204" pitchFamily="34" charset="0"/>
              </a:rPr>
              <a:t>PDPA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43BC90-0855-A1EE-CC15-78BBEF6ACA5D}"/>
              </a:ext>
            </a:extLst>
          </p:cNvPr>
          <p:cNvSpPr txBox="1"/>
          <p:nvPr/>
        </p:nvSpPr>
        <p:spPr>
          <a:xfrm>
            <a:off x="990600" y="2324100"/>
            <a:ext cx="4064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2200" b="1">
                <a:solidFill>
                  <a:srgbClr val="F7F4EE"/>
                </a:solidFill>
                <a:latin typeface="Georgia" panose="02040502050405020303" pitchFamily="18" charset="0"/>
              </a:rPr>
              <a:t>Current compliance review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DD5CC7-E6F6-42E8-CF69-C3316553D62D}"/>
              </a:ext>
            </a:extLst>
          </p:cNvPr>
          <p:cNvSpPr txBox="1"/>
          <p:nvPr/>
        </p:nvSpPr>
        <p:spPr>
          <a:xfrm>
            <a:off x="990600" y="2984500"/>
            <a:ext cx="4038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CBD1D8"/>
                </a:solidFill>
                <a:latin typeface="Aptos" panose="020B0004020202020204" pitchFamily="34" charset="0"/>
              </a:rPr>
              <a:t>Historical comparison and commenced duties
Priority screening for privacy clauses
Clause-level diff review</a:t>
            </a:r>
            <a:endParaRPr lang="en-SG" sz="1200">
              <a:solidFill>
                <a:srgbClr val="CBD1D8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0BD0C7-0F2F-2A4D-BAB4-3F8B1BB514C0}"/>
              </a:ext>
            </a:extLst>
          </p:cNvPr>
          <p:cNvSpPr/>
          <p:nvPr/>
        </p:nvSpPr>
        <p:spPr>
          <a:xfrm>
            <a:off x="6032500" y="1600200"/>
            <a:ext cx="5461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A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A6A372-DBBB-1FEE-DD0F-5F4D78871C1B}"/>
              </a:ext>
            </a:extLst>
          </p:cNvPr>
          <p:cNvSpPr txBox="1"/>
          <p:nvPr/>
        </p:nvSpPr>
        <p:spPr>
          <a:xfrm>
            <a:off x="6324600" y="18796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200" b="1">
                <a:solidFill>
                  <a:srgbClr val="B28B43"/>
                </a:solidFill>
                <a:latin typeface="Aptos" panose="020B0004020202020204" pitchFamily="34" charset="0"/>
              </a:rPr>
              <a:t>WORKPLACE FAIRNESS 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45C64-5D10-1170-16E4-47592066BC17}"/>
              </a:ext>
            </a:extLst>
          </p:cNvPr>
          <p:cNvSpPr txBox="1"/>
          <p:nvPr/>
        </p:nvSpPr>
        <p:spPr>
          <a:xfrm>
            <a:off x="6324600" y="2324100"/>
            <a:ext cx="4445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2200" b="1">
                <a:solidFill>
                  <a:srgbClr val="141F33"/>
                </a:solidFill>
                <a:latin typeface="Georgia" panose="02040502050405020303" pitchFamily="18" charset="0"/>
              </a:rPr>
              <a:t>Future readiness review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7F4211-D167-1763-2A2A-950CC19EA46C}"/>
              </a:ext>
            </a:extLst>
          </p:cNvPr>
          <p:cNvSpPr txBox="1"/>
          <p:nvPr/>
        </p:nvSpPr>
        <p:spPr>
          <a:xfrm>
            <a:off x="6324600" y="2984500"/>
            <a:ext cx="4445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646970"/>
                </a:solidFill>
                <a:latin typeface="Aptos" panose="020B0004020202020204" pitchFamily="34" charset="0"/>
              </a:rPr>
              <a:t>Passed but uncommenced
Employment document screening
Preparation without false breach findings</a:t>
            </a:r>
            <a:endParaRPr lang="en-SG" sz="1200">
              <a:solidFill>
                <a:srgbClr val="646970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B5BD7E-24C5-12A4-BFFD-3F54798C528D}"/>
              </a:ext>
            </a:extLst>
          </p:cNvPr>
          <p:cNvSpPr txBox="1"/>
          <p:nvPr/>
        </p:nvSpPr>
        <p:spPr>
          <a:xfrm>
            <a:off x="698500" y="44704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000" b="1">
                <a:solidFill>
                  <a:srgbClr val="B28B43"/>
                </a:solidFill>
                <a:latin typeface="Aptos" panose="020B0004020202020204" pitchFamily="34" charset="0"/>
              </a:rPr>
              <a:t>LIVE DEMO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0DDD2F-6694-0658-CDA9-A15F64EDCBE1}"/>
              </a:ext>
            </a:extLst>
          </p:cNvPr>
          <p:cNvSpPr txBox="1"/>
          <p:nvPr/>
        </p:nvSpPr>
        <p:spPr>
          <a:xfrm>
            <a:off x="698500" y="4940300"/>
            <a:ext cx="3175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SG" sz="12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9BCD76-0F77-C422-EAE4-2639E09B1B9D}"/>
              </a:ext>
            </a:extLst>
          </p:cNvPr>
          <p:cNvSpPr txBox="1"/>
          <p:nvPr/>
        </p:nvSpPr>
        <p:spPr>
          <a:xfrm>
            <a:off x="1130300" y="4876800"/>
            <a:ext cx="16002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100" b="1">
                <a:solidFill>
                  <a:srgbClr val="141F33"/>
                </a:solidFill>
                <a:latin typeface="Aptos" panose="020B0004020202020204" pitchFamily="34" charset="0"/>
              </a:rPr>
              <a:t>Pick a law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F2BA7B4-64EC-B48D-EC70-D3B1565563AF}"/>
              </a:ext>
            </a:extLst>
          </p:cNvPr>
          <p:cNvCxnSpPr/>
          <p:nvPr/>
        </p:nvCxnSpPr>
        <p:spPr>
          <a:xfrm>
            <a:off x="2641600" y="5105400"/>
            <a:ext cx="177800" cy="0"/>
          </a:xfrm>
          <a:prstGeom prst="line">
            <a:avLst/>
          </a:prstGeom>
          <a:ln w="12700">
            <a:solidFill>
              <a:srgbClr val="CFCAB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515FB6A-2E31-E541-E992-9410574F6569}"/>
              </a:ext>
            </a:extLst>
          </p:cNvPr>
          <p:cNvSpPr txBox="1"/>
          <p:nvPr/>
        </p:nvSpPr>
        <p:spPr>
          <a:xfrm>
            <a:off x="2857500" y="4940300"/>
            <a:ext cx="3175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SG" sz="12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FD755F-79C3-EF4C-66C2-200B2C3685BE}"/>
              </a:ext>
            </a:extLst>
          </p:cNvPr>
          <p:cNvSpPr txBox="1"/>
          <p:nvPr/>
        </p:nvSpPr>
        <p:spPr>
          <a:xfrm>
            <a:off x="3289300" y="4876800"/>
            <a:ext cx="16002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141F33"/>
                </a:solidFill>
                <a:latin typeface="Aptos" panose="020B0004020202020204" pitchFamily="34" charset="0"/>
              </a:rPr>
              <a:t>Read the summary and timeline</a:t>
            </a:r>
            <a:endParaRPr lang="en-SG" sz="1100" b="1">
              <a:solidFill>
                <a:srgbClr val="141F33"/>
              </a:solidFill>
              <a:latin typeface="Aptos" panose="020B000402020202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5C21671-938D-0D48-BE39-28191935E96C}"/>
              </a:ext>
            </a:extLst>
          </p:cNvPr>
          <p:cNvCxnSpPr/>
          <p:nvPr/>
        </p:nvCxnSpPr>
        <p:spPr>
          <a:xfrm>
            <a:off x="4800600" y="5105400"/>
            <a:ext cx="177800" cy="0"/>
          </a:xfrm>
          <a:prstGeom prst="line">
            <a:avLst/>
          </a:prstGeom>
          <a:ln w="12700">
            <a:solidFill>
              <a:srgbClr val="CFCAB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48BB7C6-50F8-7F56-4A12-F8AAAB23542A}"/>
              </a:ext>
            </a:extLst>
          </p:cNvPr>
          <p:cNvSpPr txBox="1"/>
          <p:nvPr/>
        </p:nvSpPr>
        <p:spPr>
          <a:xfrm>
            <a:off x="5016500" y="4940300"/>
            <a:ext cx="3175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SG" sz="12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F2879C-924A-2842-410F-9AFA3163F80D}"/>
              </a:ext>
            </a:extLst>
          </p:cNvPr>
          <p:cNvSpPr txBox="1"/>
          <p:nvPr/>
        </p:nvSpPr>
        <p:spPr>
          <a:xfrm>
            <a:off x="5448300" y="4876800"/>
            <a:ext cx="16002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100" b="1">
                <a:solidFill>
                  <a:srgbClr val="141F33"/>
                </a:solidFill>
                <a:latin typeface="Aptos" panose="020B0004020202020204" pitchFamily="34" charset="0"/>
              </a:rPr>
              <a:t>Filter affected files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4B67BB3-E5C9-CE34-8ED6-B9520B4E4163}"/>
              </a:ext>
            </a:extLst>
          </p:cNvPr>
          <p:cNvCxnSpPr/>
          <p:nvPr/>
        </p:nvCxnSpPr>
        <p:spPr>
          <a:xfrm>
            <a:off x="6959600" y="5105400"/>
            <a:ext cx="177800" cy="0"/>
          </a:xfrm>
          <a:prstGeom prst="line">
            <a:avLst/>
          </a:prstGeom>
          <a:ln w="12700">
            <a:solidFill>
              <a:srgbClr val="CFCAB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4730FCA-7968-4B28-AF68-497EC348E44F}"/>
              </a:ext>
            </a:extLst>
          </p:cNvPr>
          <p:cNvSpPr txBox="1"/>
          <p:nvPr/>
        </p:nvSpPr>
        <p:spPr>
          <a:xfrm>
            <a:off x="7175500" y="4940300"/>
            <a:ext cx="3175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SG" sz="12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BF80CF-C3DA-A0A4-A89D-3AF3FC5EF626}"/>
              </a:ext>
            </a:extLst>
          </p:cNvPr>
          <p:cNvSpPr txBox="1"/>
          <p:nvPr/>
        </p:nvSpPr>
        <p:spPr>
          <a:xfrm>
            <a:off x="7607300" y="4876800"/>
            <a:ext cx="16002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100" b="1">
                <a:solidFill>
                  <a:srgbClr val="141F33"/>
                </a:solidFill>
                <a:latin typeface="Aptos" panose="020B0004020202020204" pitchFamily="34" charset="0"/>
              </a:rPr>
              <a:t>Trace the dependency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14FAAF7-C56F-CE88-DD80-7E65386690AD}"/>
              </a:ext>
            </a:extLst>
          </p:cNvPr>
          <p:cNvCxnSpPr/>
          <p:nvPr/>
        </p:nvCxnSpPr>
        <p:spPr>
          <a:xfrm>
            <a:off x="9118600" y="5105400"/>
            <a:ext cx="177800" cy="0"/>
          </a:xfrm>
          <a:prstGeom prst="line">
            <a:avLst/>
          </a:prstGeom>
          <a:ln w="12700">
            <a:solidFill>
              <a:srgbClr val="CFCAB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8FD9D78-DBDE-81A4-509B-563923842797}"/>
              </a:ext>
            </a:extLst>
          </p:cNvPr>
          <p:cNvSpPr txBox="1"/>
          <p:nvPr/>
        </p:nvSpPr>
        <p:spPr>
          <a:xfrm>
            <a:off x="9334500" y="4940300"/>
            <a:ext cx="3175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SG" sz="12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3E9220-7590-A9CE-61FB-1A9E7806D38B}"/>
              </a:ext>
            </a:extLst>
          </p:cNvPr>
          <p:cNvSpPr txBox="1"/>
          <p:nvPr/>
        </p:nvSpPr>
        <p:spPr>
          <a:xfrm>
            <a:off x="9766300" y="4876800"/>
            <a:ext cx="16002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100" b="1">
                <a:solidFill>
                  <a:srgbClr val="141F33"/>
                </a:solidFill>
                <a:latin typeface="Aptos" panose="020B0004020202020204" pitchFamily="34" charset="0"/>
              </a:rPr>
              <a:t>Accept or reject edits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6778FF-6E34-79A8-04B4-BD8A45368957}"/>
              </a:ext>
            </a:extLst>
          </p:cNvPr>
          <p:cNvSpPr txBox="1"/>
          <p:nvPr/>
        </p:nvSpPr>
        <p:spPr>
          <a:xfrm>
            <a:off x="685800" y="64897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sv-SE" sz="800">
                <a:solidFill>
                  <a:srgbClr val="646970"/>
                </a:solidFill>
                <a:latin typeface="Aptos" panose="020B0004020202020204" pitchFamily="34" charset="0"/>
              </a:rPr>
              <a:t>L.A.R.P.  |  SMU LIT Hackathon 2026</a:t>
            </a:r>
            <a:endParaRPr lang="en-SG" sz="800">
              <a:solidFill>
                <a:srgbClr val="64697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978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499EFD-EB79-A636-D1C3-F98749850766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B2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CB1D3-E36B-5EE7-5DB3-31DB6394ADDC}"/>
              </a:ext>
            </a:extLst>
          </p:cNvPr>
          <p:cNvSpPr txBox="1"/>
          <p:nvPr/>
        </p:nvSpPr>
        <p:spPr>
          <a:xfrm>
            <a:off x="685800" y="4318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2700" b="1">
                <a:solidFill>
                  <a:srgbClr val="141F33"/>
                </a:solidFill>
                <a:latin typeface="Georgia" panose="02040502050405020303" pitchFamily="18" charset="0"/>
              </a:rPr>
              <a:t>Evidence and human control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EB9D7C-AC2B-A275-A0E0-307D6187E283}"/>
              </a:ext>
            </a:extLst>
          </p:cNvPr>
          <p:cNvSpPr txBox="1"/>
          <p:nvPr/>
        </p:nvSpPr>
        <p:spPr>
          <a:xfrm>
            <a:off x="10922000" y="508000"/>
            <a:ext cx="6096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SG" sz="1100" b="1">
                <a:solidFill>
                  <a:srgbClr val="B28B43"/>
                </a:solidFill>
                <a:latin typeface="Aptos" panose="020B0004020202020204" pitchFamily="34" charset="0"/>
              </a:rPr>
              <a:t>05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9D215D3-F27D-7BE8-DF41-0A3E8B55A1E7}"/>
              </a:ext>
            </a:extLst>
          </p:cNvPr>
          <p:cNvCxnSpPr/>
          <p:nvPr/>
        </p:nvCxnSpPr>
        <p:spPr>
          <a:xfrm>
            <a:off x="685800" y="1193800"/>
            <a:ext cx="10820400" cy="0"/>
          </a:xfrm>
          <a:prstGeom prst="line">
            <a:avLst/>
          </a:prstGeom>
          <a:ln w="12700">
            <a:solidFill>
              <a:srgbClr val="CFCA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B244DA5-B467-CD36-F846-8B35C7716619}"/>
              </a:ext>
            </a:extLst>
          </p:cNvPr>
          <p:cNvSpPr txBox="1"/>
          <p:nvPr/>
        </p:nvSpPr>
        <p:spPr>
          <a:xfrm>
            <a:off x="698500" y="1676400"/>
            <a:ext cx="406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SG" sz="1900" b="1">
                <a:solidFill>
                  <a:srgbClr val="B28B43"/>
                </a:solidFill>
                <a:latin typeface="Georgia" panose="02040502050405020303" pitchFamily="18" charset="0"/>
              </a:rPr>
              <a:t>01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071D12-A7A5-B4C6-0BEA-FE54CF91C671}"/>
              </a:ext>
            </a:extLst>
          </p:cNvPr>
          <p:cNvCxnSpPr/>
          <p:nvPr/>
        </p:nvCxnSpPr>
        <p:spPr>
          <a:xfrm>
            <a:off x="1206500" y="1866900"/>
            <a:ext cx="381000" cy="0"/>
          </a:xfrm>
          <a:prstGeom prst="line">
            <a:avLst/>
          </a:prstGeom>
          <a:ln w="25400">
            <a:solidFill>
              <a:srgbClr val="B28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FB3EDAA-0CD0-CA60-2A17-316F4C76F63D}"/>
              </a:ext>
            </a:extLst>
          </p:cNvPr>
          <p:cNvSpPr txBox="1"/>
          <p:nvPr/>
        </p:nvSpPr>
        <p:spPr>
          <a:xfrm>
            <a:off x="1714500" y="1663700"/>
            <a:ext cx="3937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500" b="1">
                <a:solidFill>
                  <a:srgbClr val="141F33"/>
                </a:solidFill>
                <a:latin typeface="Aptos" panose="020B0004020202020204" pitchFamily="34" charset="0"/>
              </a:rPr>
              <a:t>Official evidence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EC38A4-D319-709E-8125-7CD494EE4FB6}"/>
              </a:ext>
            </a:extLst>
          </p:cNvPr>
          <p:cNvSpPr txBox="1"/>
          <p:nvPr/>
        </p:nvSpPr>
        <p:spPr>
          <a:xfrm>
            <a:off x="1714500" y="2006600"/>
            <a:ext cx="3937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646970"/>
                </a:solidFill>
                <a:latin typeface="Aptos" panose="020B0004020202020204" pitchFamily="34" charset="0"/>
              </a:rPr>
              <a:t>Singapore Statutes Online and approved government sources ground the legal position.</a:t>
            </a:r>
            <a:endParaRPr lang="en-SG" sz="1100">
              <a:solidFill>
                <a:srgbClr val="646970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65BFA-B84D-FDC7-53D6-3BFC9D243A6F}"/>
              </a:ext>
            </a:extLst>
          </p:cNvPr>
          <p:cNvSpPr txBox="1"/>
          <p:nvPr/>
        </p:nvSpPr>
        <p:spPr>
          <a:xfrm>
            <a:off x="6540500" y="1676400"/>
            <a:ext cx="406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SG" sz="1900" b="1">
                <a:solidFill>
                  <a:srgbClr val="B28B43"/>
                </a:solidFill>
                <a:latin typeface="Georgia" panose="02040502050405020303" pitchFamily="18" charset="0"/>
              </a:rPr>
              <a:t>02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90F6D6-A2C6-6A56-B034-60C7EA27B87C}"/>
              </a:ext>
            </a:extLst>
          </p:cNvPr>
          <p:cNvCxnSpPr/>
          <p:nvPr/>
        </p:nvCxnSpPr>
        <p:spPr>
          <a:xfrm>
            <a:off x="7048500" y="1866900"/>
            <a:ext cx="381000" cy="0"/>
          </a:xfrm>
          <a:prstGeom prst="line">
            <a:avLst/>
          </a:prstGeom>
          <a:ln w="25400">
            <a:solidFill>
              <a:srgbClr val="B28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62F4D73-F98E-5C9E-9BB0-FC33DF2B9C7F}"/>
              </a:ext>
            </a:extLst>
          </p:cNvPr>
          <p:cNvSpPr txBox="1"/>
          <p:nvPr/>
        </p:nvSpPr>
        <p:spPr>
          <a:xfrm>
            <a:off x="7556500" y="1663700"/>
            <a:ext cx="3937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500" b="1">
                <a:solidFill>
                  <a:srgbClr val="141F33"/>
                </a:solidFill>
                <a:latin typeface="Aptos" panose="020B0004020202020204" pitchFamily="34" charset="0"/>
              </a:rPr>
              <a:t>AI draft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E79705-3FE0-9165-FFAB-1C525191D57B}"/>
              </a:ext>
            </a:extLst>
          </p:cNvPr>
          <p:cNvSpPr txBox="1"/>
          <p:nvPr/>
        </p:nvSpPr>
        <p:spPr>
          <a:xfrm>
            <a:off x="7556500" y="2006600"/>
            <a:ext cx="3937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646970"/>
                </a:solidFill>
                <a:latin typeface="Aptos" panose="020B0004020202020204" pitchFamily="34" charset="0"/>
              </a:rPr>
              <a:t>The model proposes summaries and clause changes. It does not make the final legal decision.</a:t>
            </a:r>
            <a:endParaRPr lang="en-SG" sz="1100">
              <a:solidFill>
                <a:srgbClr val="646970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32B861-BD82-63AA-6E6F-47BE7789191F}"/>
              </a:ext>
            </a:extLst>
          </p:cNvPr>
          <p:cNvSpPr txBox="1"/>
          <p:nvPr/>
        </p:nvSpPr>
        <p:spPr>
          <a:xfrm>
            <a:off x="698500" y="3175000"/>
            <a:ext cx="406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SG" sz="1900" b="1">
                <a:solidFill>
                  <a:srgbClr val="237054"/>
                </a:solidFill>
                <a:latin typeface="Georgia" panose="02040502050405020303" pitchFamily="18" charset="0"/>
              </a:rPr>
              <a:t>03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F2859AC-E2B3-A6AB-68C7-F09DE589C944}"/>
              </a:ext>
            </a:extLst>
          </p:cNvPr>
          <p:cNvCxnSpPr/>
          <p:nvPr/>
        </p:nvCxnSpPr>
        <p:spPr>
          <a:xfrm>
            <a:off x="1206500" y="3365500"/>
            <a:ext cx="381000" cy="0"/>
          </a:xfrm>
          <a:prstGeom prst="line">
            <a:avLst/>
          </a:prstGeom>
          <a:ln w="25400">
            <a:solidFill>
              <a:srgbClr val="237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06A4CE6-0418-E25A-2000-D5DB8DBEE199}"/>
              </a:ext>
            </a:extLst>
          </p:cNvPr>
          <p:cNvSpPr txBox="1"/>
          <p:nvPr/>
        </p:nvSpPr>
        <p:spPr>
          <a:xfrm>
            <a:off x="1714500" y="3162300"/>
            <a:ext cx="3937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500" b="1">
                <a:solidFill>
                  <a:srgbClr val="141F33"/>
                </a:solidFill>
                <a:latin typeface="Aptos" panose="020B0004020202020204" pitchFamily="34" charset="0"/>
              </a:rPr>
              <a:t>Cached review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0AA294-3BDC-462C-417C-09FEA91F2C33}"/>
              </a:ext>
            </a:extLst>
          </p:cNvPr>
          <p:cNvSpPr txBox="1"/>
          <p:nvPr/>
        </p:nvSpPr>
        <p:spPr>
          <a:xfrm>
            <a:off x="1714500" y="3505200"/>
            <a:ext cx="3937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646970"/>
                </a:solidFill>
                <a:latin typeface="Aptos" panose="020B0004020202020204" pitchFamily="34" charset="0"/>
              </a:rPr>
              <a:t>Stored results avoid repeat processing and preserve the basis for each priority.</a:t>
            </a:r>
            <a:endParaRPr lang="en-SG" sz="1100">
              <a:solidFill>
                <a:srgbClr val="646970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93218A-6DDD-AC90-BFA2-CC46C02E15EA}"/>
              </a:ext>
            </a:extLst>
          </p:cNvPr>
          <p:cNvSpPr txBox="1"/>
          <p:nvPr/>
        </p:nvSpPr>
        <p:spPr>
          <a:xfrm>
            <a:off x="6540500" y="3175000"/>
            <a:ext cx="406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SG" sz="1900" b="1">
                <a:solidFill>
                  <a:srgbClr val="237054"/>
                </a:solidFill>
                <a:latin typeface="Georgia" panose="02040502050405020303" pitchFamily="18" charset="0"/>
              </a:rPr>
              <a:t>04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854DE5-A992-67EB-1AA3-B24E74430A10}"/>
              </a:ext>
            </a:extLst>
          </p:cNvPr>
          <p:cNvCxnSpPr/>
          <p:nvPr/>
        </p:nvCxnSpPr>
        <p:spPr>
          <a:xfrm>
            <a:off x="7048500" y="3365500"/>
            <a:ext cx="381000" cy="0"/>
          </a:xfrm>
          <a:prstGeom prst="line">
            <a:avLst/>
          </a:prstGeom>
          <a:ln w="25400">
            <a:solidFill>
              <a:srgbClr val="237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B56A3E8-5456-A6F5-BAD5-13DC34BAEEAF}"/>
              </a:ext>
            </a:extLst>
          </p:cNvPr>
          <p:cNvSpPr txBox="1"/>
          <p:nvPr/>
        </p:nvSpPr>
        <p:spPr>
          <a:xfrm>
            <a:off x="7556500" y="3162300"/>
            <a:ext cx="3937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500" b="1">
                <a:solidFill>
                  <a:srgbClr val="141F33"/>
                </a:solidFill>
                <a:latin typeface="Aptos" panose="020B0004020202020204" pitchFamily="34" charset="0"/>
              </a:rPr>
              <a:t>Lawyer approval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FBEBF9-BB32-69D6-858E-2549FCCAEF70}"/>
              </a:ext>
            </a:extLst>
          </p:cNvPr>
          <p:cNvSpPr txBox="1"/>
          <p:nvPr/>
        </p:nvSpPr>
        <p:spPr>
          <a:xfrm>
            <a:off x="7556500" y="3505200"/>
            <a:ext cx="3937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646970"/>
                </a:solidFill>
                <a:latin typeface="Aptos" panose="020B0004020202020204" pitchFamily="34" charset="0"/>
              </a:rPr>
              <a:t>Counsel accepts, rejects or edits every change before downloading a working copy.</a:t>
            </a:r>
            <a:endParaRPr lang="en-SG" sz="1100">
              <a:solidFill>
                <a:srgbClr val="646970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304C41-6DE9-E3E9-E067-B69C3FBD5DD4}"/>
              </a:ext>
            </a:extLst>
          </p:cNvPr>
          <p:cNvSpPr/>
          <p:nvPr/>
        </p:nvSpPr>
        <p:spPr>
          <a:xfrm>
            <a:off x="698500" y="4889500"/>
            <a:ext cx="10795000" cy="838200"/>
          </a:xfrm>
          <a:prstGeom prst="rect">
            <a:avLst/>
          </a:prstGeom>
          <a:solidFill>
            <a:srgbClr val="14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37DFF5-AAB7-27D1-0043-23E8FAAD7DB5}"/>
              </a:ext>
            </a:extLst>
          </p:cNvPr>
          <p:cNvSpPr txBox="1"/>
          <p:nvPr/>
        </p:nvSpPr>
        <p:spPr>
          <a:xfrm>
            <a:off x="990600" y="5118100"/>
            <a:ext cx="9525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900" b="1">
                <a:solidFill>
                  <a:srgbClr val="B28B43"/>
                </a:solidFill>
                <a:latin typeface="Aptos" panose="020B0004020202020204" pitchFamily="34" charset="0"/>
              </a:rPr>
              <a:t>SERVER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B44E1B-D0F4-2C7F-4846-163744D84A21}"/>
              </a:ext>
            </a:extLst>
          </p:cNvPr>
          <p:cNvSpPr txBox="1"/>
          <p:nvPr/>
        </p:nvSpPr>
        <p:spPr>
          <a:xfrm>
            <a:off x="990600" y="5346700"/>
            <a:ext cx="26035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100">
                <a:solidFill>
                  <a:srgbClr val="F7F4EE"/>
                </a:solidFill>
                <a:latin typeface="Aptos" panose="020B0004020202020204" pitchFamily="34" charset="0"/>
              </a:rPr>
              <a:t>Credentials remain server-side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E44031-EAAF-BFA2-39B9-4CFA806B8904}"/>
              </a:ext>
            </a:extLst>
          </p:cNvPr>
          <p:cNvSpPr txBox="1"/>
          <p:nvPr/>
        </p:nvSpPr>
        <p:spPr>
          <a:xfrm>
            <a:off x="4292600" y="5118100"/>
            <a:ext cx="9525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900" b="1">
                <a:solidFill>
                  <a:srgbClr val="B28B43"/>
                </a:solidFill>
                <a:latin typeface="Aptos" panose="020B0004020202020204" pitchFamily="34" charset="0"/>
              </a:rPr>
              <a:t>STORAGE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03711C-A7F2-68E3-8CF1-FFE5BA995B6C}"/>
              </a:ext>
            </a:extLst>
          </p:cNvPr>
          <p:cNvSpPr txBox="1"/>
          <p:nvPr/>
        </p:nvSpPr>
        <p:spPr>
          <a:xfrm>
            <a:off x="4292600" y="53467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100">
                <a:solidFill>
                  <a:srgbClr val="F7F4EE"/>
                </a:solidFill>
                <a:latin typeface="Aptos" panose="020B0004020202020204" pitchFamily="34" charset="0"/>
              </a:rPr>
              <a:t>R2 originals remain read-only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9D696E-FAF4-5B76-35FB-F5BE9A21AB59}"/>
              </a:ext>
            </a:extLst>
          </p:cNvPr>
          <p:cNvSpPr txBox="1"/>
          <p:nvPr/>
        </p:nvSpPr>
        <p:spPr>
          <a:xfrm>
            <a:off x="7658100" y="5118100"/>
            <a:ext cx="9525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900" b="1">
                <a:solidFill>
                  <a:srgbClr val="B28B43"/>
                </a:solidFill>
                <a:latin typeface="Aptos" panose="020B0004020202020204" pitchFamily="34" charset="0"/>
              </a:rPr>
              <a:t>OUTPUT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1BCCD6-6FF4-AD94-E2B8-43D520592C9F}"/>
              </a:ext>
            </a:extLst>
          </p:cNvPr>
          <p:cNvSpPr txBox="1"/>
          <p:nvPr/>
        </p:nvSpPr>
        <p:spPr>
          <a:xfrm>
            <a:off x="7658100" y="53467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F7F4EE"/>
                </a:solidFill>
                <a:latin typeface="Aptos" panose="020B0004020202020204" pitchFamily="34" charset="0"/>
              </a:rPr>
              <a:t>Approved edits download as a copy</a:t>
            </a:r>
            <a:endParaRPr lang="en-SG" sz="1100">
              <a:solidFill>
                <a:srgbClr val="F7F4EE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04C86C-4AE4-B049-6290-155775E74052}"/>
              </a:ext>
            </a:extLst>
          </p:cNvPr>
          <p:cNvSpPr txBox="1"/>
          <p:nvPr/>
        </p:nvSpPr>
        <p:spPr>
          <a:xfrm>
            <a:off x="685800" y="64897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sv-SE" sz="800">
                <a:solidFill>
                  <a:srgbClr val="646970"/>
                </a:solidFill>
                <a:latin typeface="Aptos" panose="020B0004020202020204" pitchFamily="34" charset="0"/>
              </a:rPr>
              <a:t>L.A.R.P.  |  SMU LIT Hackathon 2026</a:t>
            </a:r>
            <a:endParaRPr lang="en-SG" sz="800">
              <a:solidFill>
                <a:srgbClr val="64697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30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98B64-963C-961E-65FB-4DA78C4BD4C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7F9F1C-3B06-F97F-902B-5CD9A43B86F7}"/>
              </a:ext>
            </a:extLst>
          </p:cNvPr>
          <p:cNvSpPr txBox="1"/>
          <p:nvPr/>
        </p:nvSpPr>
        <p:spPr>
          <a:xfrm>
            <a:off x="11341100" y="2540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SG" sz="900" b="1">
                <a:solidFill>
                  <a:srgbClr val="B28B43"/>
                </a:solidFill>
                <a:latin typeface="Aptos" panose="020B00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72449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A0D8D2-80F1-F32C-06B5-B842E034C1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F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A43F3D-A70D-EB07-A144-7E946D818D09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B2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BDC7DC-3D13-8D71-9418-131F60B7CEDF}"/>
              </a:ext>
            </a:extLst>
          </p:cNvPr>
          <p:cNvSpPr txBox="1"/>
          <p:nvPr/>
        </p:nvSpPr>
        <p:spPr>
          <a:xfrm>
            <a:off x="889000" y="685800"/>
            <a:ext cx="635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3000" b="1">
                <a:solidFill>
                  <a:srgbClr val="F7F4EE"/>
                </a:solidFill>
                <a:latin typeface="Georgia" panose="02040502050405020303" pitchFamily="18" charset="0"/>
              </a:rPr>
              <a:t>What comes next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82942E-3A71-9524-5F77-F1DDB4462126}"/>
              </a:ext>
            </a:extLst>
          </p:cNvPr>
          <p:cNvCxnSpPr/>
          <p:nvPr/>
        </p:nvCxnSpPr>
        <p:spPr>
          <a:xfrm>
            <a:off x="889000" y="1498600"/>
            <a:ext cx="10414000" cy="0"/>
          </a:xfrm>
          <a:prstGeom prst="line">
            <a:avLst/>
          </a:prstGeom>
          <a:ln w="12700">
            <a:solidFill>
              <a:srgbClr val="4A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7655B68-3211-C223-EEEE-04D4A83F3152}"/>
              </a:ext>
            </a:extLst>
          </p:cNvPr>
          <p:cNvSpPr txBox="1"/>
          <p:nvPr/>
        </p:nvSpPr>
        <p:spPr>
          <a:xfrm>
            <a:off x="889000" y="2006600"/>
            <a:ext cx="406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SG" sz="1900" b="1">
                <a:solidFill>
                  <a:srgbClr val="B28B43"/>
                </a:solidFill>
                <a:latin typeface="Georgia" panose="02040502050405020303" pitchFamily="18" charset="0"/>
              </a:rPr>
              <a:t>01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70DC2A-A8A6-F055-D958-B0778BD85C9C}"/>
              </a:ext>
            </a:extLst>
          </p:cNvPr>
          <p:cNvCxnSpPr/>
          <p:nvPr/>
        </p:nvCxnSpPr>
        <p:spPr>
          <a:xfrm>
            <a:off x="1397000" y="2197100"/>
            <a:ext cx="381000" cy="0"/>
          </a:xfrm>
          <a:prstGeom prst="line">
            <a:avLst/>
          </a:prstGeom>
          <a:ln w="25400">
            <a:solidFill>
              <a:srgbClr val="B28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D8C91F1-3B3C-B51C-C35F-9DE183E91F9B}"/>
              </a:ext>
            </a:extLst>
          </p:cNvPr>
          <p:cNvSpPr txBox="1"/>
          <p:nvPr/>
        </p:nvSpPr>
        <p:spPr>
          <a:xfrm>
            <a:off x="1905000" y="1993900"/>
            <a:ext cx="3937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500" b="1">
                <a:solidFill>
                  <a:srgbClr val="F7F4EE"/>
                </a:solidFill>
                <a:latin typeface="Aptos" panose="020B0004020202020204" pitchFamily="34" charset="0"/>
              </a:rPr>
              <a:t>Microsoft Word Track Changes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83EA1B-B842-9A0E-105E-3492342BE4AC}"/>
              </a:ext>
            </a:extLst>
          </p:cNvPr>
          <p:cNvSpPr txBox="1"/>
          <p:nvPr/>
        </p:nvSpPr>
        <p:spPr>
          <a:xfrm>
            <a:off x="1905000" y="2336800"/>
            <a:ext cx="3937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BBC4CF"/>
                </a:solidFill>
                <a:latin typeface="Aptos" panose="020B0004020202020204" pitchFamily="34" charset="0"/>
              </a:rPr>
              <a:t>Accepted suggestions appear as native reviewable edits in active agreements.</a:t>
            </a:r>
            <a:endParaRPr lang="en-SG" sz="1100">
              <a:solidFill>
                <a:srgbClr val="BBC4C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D2A20D-99C1-13B1-2A56-5BEE6D1BF361}"/>
              </a:ext>
            </a:extLst>
          </p:cNvPr>
          <p:cNvSpPr txBox="1"/>
          <p:nvPr/>
        </p:nvSpPr>
        <p:spPr>
          <a:xfrm>
            <a:off x="6477000" y="2006600"/>
            <a:ext cx="406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SG" sz="1900" b="1">
                <a:solidFill>
                  <a:srgbClr val="B28B43"/>
                </a:solidFill>
                <a:latin typeface="Georgia" panose="02040502050405020303" pitchFamily="18" charset="0"/>
              </a:rPr>
              <a:t>02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D09D7F-2C9C-DC42-0ED9-BDD18001AFB1}"/>
              </a:ext>
            </a:extLst>
          </p:cNvPr>
          <p:cNvCxnSpPr/>
          <p:nvPr/>
        </p:nvCxnSpPr>
        <p:spPr>
          <a:xfrm>
            <a:off x="6985000" y="2197100"/>
            <a:ext cx="381000" cy="0"/>
          </a:xfrm>
          <a:prstGeom prst="line">
            <a:avLst/>
          </a:prstGeom>
          <a:ln w="25400">
            <a:solidFill>
              <a:srgbClr val="B28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05535D8-6C93-5CA5-78FC-D7FE0A0A1423}"/>
              </a:ext>
            </a:extLst>
          </p:cNvPr>
          <p:cNvSpPr txBox="1"/>
          <p:nvPr/>
        </p:nvSpPr>
        <p:spPr>
          <a:xfrm>
            <a:off x="7493000" y="19939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500" b="1">
                <a:solidFill>
                  <a:srgbClr val="F7F4EE"/>
                </a:solidFill>
                <a:latin typeface="Aptos" panose="020B0004020202020204" pitchFamily="34" charset="0"/>
              </a:rPr>
              <a:t>Billable review timer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8A4C51-7792-A849-2853-C409A722F695}"/>
              </a:ext>
            </a:extLst>
          </p:cNvPr>
          <p:cNvSpPr txBox="1"/>
          <p:nvPr/>
        </p:nvSpPr>
        <p:spPr>
          <a:xfrm>
            <a:off x="7493000" y="2336800"/>
            <a:ext cx="3810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BBC4CF"/>
                </a:solidFill>
                <a:latin typeface="Aptos" panose="020B0004020202020204" pitchFamily="34" charset="0"/>
              </a:rPr>
              <a:t>Review time is recorded by document and client matter.</a:t>
            </a:r>
            <a:endParaRPr lang="en-SG" sz="1100">
              <a:solidFill>
                <a:srgbClr val="BBC4CF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7CB6-D7E0-393C-263F-00FC1CFCC507}"/>
              </a:ext>
            </a:extLst>
          </p:cNvPr>
          <p:cNvSpPr txBox="1"/>
          <p:nvPr/>
        </p:nvSpPr>
        <p:spPr>
          <a:xfrm>
            <a:off x="889000" y="3581400"/>
            <a:ext cx="406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SG" sz="1900" b="1">
                <a:solidFill>
                  <a:srgbClr val="B28B43"/>
                </a:solidFill>
                <a:latin typeface="Georgia" panose="02040502050405020303" pitchFamily="18" charset="0"/>
              </a:rPr>
              <a:t>03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F86360F-21D9-35F9-9E75-3593A3774194}"/>
              </a:ext>
            </a:extLst>
          </p:cNvPr>
          <p:cNvCxnSpPr/>
          <p:nvPr/>
        </p:nvCxnSpPr>
        <p:spPr>
          <a:xfrm>
            <a:off x="1397000" y="3771900"/>
            <a:ext cx="381000" cy="0"/>
          </a:xfrm>
          <a:prstGeom prst="line">
            <a:avLst/>
          </a:prstGeom>
          <a:ln w="25400">
            <a:solidFill>
              <a:srgbClr val="B28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0995FE8-D456-72DC-0938-0849F7475421}"/>
              </a:ext>
            </a:extLst>
          </p:cNvPr>
          <p:cNvSpPr txBox="1"/>
          <p:nvPr/>
        </p:nvSpPr>
        <p:spPr>
          <a:xfrm>
            <a:off x="1905000" y="3568700"/>
            <a:ext cx="3937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500" b="1">
                <a:solidFill>
                  <a:srgbClr val="F7F4EE"/>
                </a:solidFill>
                <a:latin typeface="Aptos" panose="020B0004020202020204" pitchFamily="34" charset="0"/>
              </a:rPr>
              <a:t>Earlier Bill monitoring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C11097-83BF-5520-10BC-C2858DC8152E}"/>
              </a:ext>
            </a:extLst>
          </p:cNvPr>
          <p:cNvSpPr txBox="1"/>
          <p:nvPr/>
        </p:nvSpPr>
        <p:spPr>
          <a:xfrm>
            <a:off x="1905000" y="3911600"/>
            <a:ext cx="3937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BBC4CF"/>
                </a:solidFill>
                <a:latin typeface="Aptos" panose="020B0004020202020204" pitchFamily="34" charset="0"/>
              </a:rPr>
              <a:t>Legal teams can prepare documents before commencement dates arrive.</a:t>
            </a:r>
            <a:endParaRPr lang="en-SG" sz="1100">
              <a:solidFill>
                <a:srgbClr val="BBC4CF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5E9C8C-E385-6C1D-F018-0A7869058C99}"/>
              </a:ext>
            </a:extLst>
          </p:cNvPr>
          <p:cNvSpPr txBox="1"/>
          <p:nvPr/>
        </p:nvSpPr>
        <p:spPr>
          <a:xfrm>
            <a:off x="6477000" y="3581400"/>
            <a:ext cx="406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SG" sz="1900" b="1">
                <a:solidFill>
                  <a:srgbClr val="B28B43"/>
                </a:solidFill>
                <a:latin typeface="Georgia" panose="02040502050405020303" pitchFamily="18" charset="0"/>
              </a:rPr>
              <a:t>04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A80E226-F552-B0EB-C637-B2B7210EF9C3}"/>
              </a:ext>
            </a:extLst>
          </p:cNvPr>
          <p:cNvCxnSpPr/>
          <p:nvPr/>
        </p:nvCxnSpPr>
        <p:spPr>
          <a:xfrm>
            <a:off x="6985000" y="3771900"/>
            <a:ext cx="381000" cy="0"/>
          </a:xfrm>
          <a:prstGeom prst="line">
            <a:avLst/>
          </a:prstGeom>
          <a:ln w="25400">
            <a:solidFill>
              <a:srgbClr val="B28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AD0AF98-272C-D73C-440D-86E894A214BE}"/>
              </a:ext>
            </a:extLst>
          </p:cNvPr>
          <p:cNvSpPr txBox="1"/>
          <p:nvPr/>
        </p:nvSpPr>
        <p:spPr>
          <a:xfrm>
            <a:off x="7493000" y="35687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SG" sz="1500" b="1">
                <a:solidFill>
                  <a:srgbClr val="F7F4EE"/>
                </a:solidFill>
                <a:latin typeface="Aptos" panose="020B0004020202020204" pitchFamily="34" charset="0"/>
              </a:rPr>
              <a:t>Law firm pilots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B727D4-B543-AFFF-6CDB-E7B42165D74E}"/>
              </a:ext>
            </a:extLst>
          </p:cNvPr>
          <p:cNvSpPr txBox="1"/>
          <p:nvPr/>
        </p:nvSpPr>
        <p:spPr>
          <a:xfrm>
            <a:off x="7493000" y="3911600"/>
            <a:ext cx="3810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BBC4CF"/>
                </a:solidFill>
                <a:latin typeface="Aptos" panose="020B0004020202020204" pitchFamily="34" charset="0"/>
              </a:rPr>
              <a:t>Real matters will test relevance, drafting quality and review speed.</a:t>
            </a:r>
            <a:endParaRPr lang="en-SG" sz="1100">
              <a:solidFill>
                <a:srgbClr val="BBC4CF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5DBF86-782D-AC13-5D25-BE67F12B625E}"/>
              </a:ext>
            </a:extLst>
          </p:cNvPr>
          <p:cNvSpPr txBox="1"/>
          <p:nvPr/>
        </p:nvSpPr>
        <p:spPr>
          <a:xfrm>
            <a:off x="889000" y="5461000"/>
            <a:ext cx="9271000" cy="7078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300" b="1">
                <a:solidFill>
                  <a:srgbClr val="F7F4EE"/>
                </a:solidFill>
                <a:latin typeface="Georgia" panose="02040502050405020303" pitchFamily="18" charset="0"/>
              </a:rPr>
              <a:t>Regulatory monitoring becomes a review queue lawyers can act on</a:t>
            </a:r>
            <a:endParaRPr lang="en-SG" sz="2300" b="1">
              <a:solidFill>
                <a:srgbClr val="F7F4EE"/>
              </a:solidFill>
              <a:latin typeface="Georgia" panose="02040502050405020303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ACA8B-BAF6-BB1E-A7D2-EBFC957590F1}"/>
              </a:ext>
            </a:extLst>
          </p:cNvPr>
          <p:cNvSpPr txBox="1"/>
          <p:nvPr/>
        </p:nvSpPr>
        <p:spPr>
          <a:xfrm>
            <a:off x="10236200" y="5689600"/>
            <a:ext cx="10668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SG" sz="1100" b="1">
                <a:solidFill>
                  <a:srgbClr val="B28B43"/>
                </a:solidFill>
                <a:latin typeface="Aptos" panose="020B0004020202020204" pitchFamily="34" charset="0"/>
              </a:rPr>
              <a:t>L.A.R.P.</a:t>
            </a:r>
          </a:p>
        </p:txBody>
      </p:sp>
    </p:spTree>
    <p:extLst>
      <p:ext uri="{BB962C8B-B14F-4D97-AF65-F5344CB8AC3E}">
        <p14:creationId xmlns:p14="http://schemas.microsoft.com/office/powerpoint/2010/main" val="4029275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</Words>
  <Application>Microsoft Office PowerPoint</Application>
  <PresentationFormat>Custom</PresentationFormat>
  <Paragraphs>98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 Hong Yu</dc:creator>
  <cp:lastModifiedBy>Soh Hong Yu</cp:lastModifiedBy>
  <cp:revision>1</cp:revision>
  <dcterms:created xsi:type="dcterms:W3CDTF">2026-09-06T03:42:26Z</dcterms:created>
  <dcterms:modified xsi:type="dcterms:W3CDTF">2026-09-06T03:42:26Z</dcterms:modified>
</cp:coreProperties>
</file>